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18"/>
    <p:sldId id="268" r:id="rId19"/>
    <p:sldId id="269" r:id="rId20"/>
    <p:sldId id="270" r:id="rId21"/>
    <p:sldId id="271" r:id="rId22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MACRO C (CQSA, Tension-Inquiry). Engineers want the puzzle first: cortisol from a pain every agent builder has felt. The four pain cards preview the four pillars.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MACRO Q + S. S reminds (every reader nods). Q activates the prediction engine and names the four pillars without revealing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MACRO A — the pyramid's Governing Thought. Dopamine release; the six cards are the deck map. Each following section runs its own mini S→C→A cycle (nested SCR).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Mini-SCA 1. The architecture section grounds everything that follows: each later section lives in a layer the reader has now seen.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Mini-SCA 2. Deterministic-first cascade = the cost story; frozen three-axis gates = the rigor story. The included training script is the steal-this hook.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Mini-SCA 3. The rarest content in the repo — published IAA numbers and a shadow-first enable policy. κ=1.0 is on 5 gate-eligible anchors; α=0.8846 pilot on 43 items — stated precisely to stay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Mini-SCA 4. $0 is the hook; the security treatment of retrieved text is the substance — most stacks pipe snippets straight into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Mini-SCA 5. Infra tested with OPA AND Gherkin BDD on a side project is the surprise; $5–30/mo makes it followable by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Mini-SCA 6. The meta-move: this deck was built with the repo's own prompts — say so out loud, it's the most shareable fact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Conversion slide: reduce time-to-first-win. Each item is one command or one file — no setup epic.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macro A restated as the star CTA, six-pillar recap as receipts, honesty box converts the license gap into a follow/watch action instead of a hidden flaw.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FROM PRODUCTION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demo was the easy part.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demo works. Then it meets a prompt injection it can't see, an auditor asking </a:t>
            </a:r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did it do that?”</a:t>
            </a:r>
            <a:pPr indent="0" marL="0">
              <a:buNone/>
            </a:pPr>
            <a:r>
              <a:rPr lang="en-US" sz="16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 eval suite that's really vibes, and a cloud bill that ends the experiment. The loop was never the hard part — </a:t>
            </a:r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around the loop is.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383280"/>
            <a:ext cx="1874520" cy="960120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4747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7490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rails that are a regex and good intentions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97480" y="3383280"/>
            <a:ext cx="1874520" cy="960120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34747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834640" y="37490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nobody recorded, answers nobody has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3383280"/>
            <a:ext cx="1874520" cy="960120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34747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92040" y="37490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vibes as the quality gate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12280" y="3383280"/>
            <a:ext cx="1874520" cy="960120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34747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49440" y="37490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only if you can afford it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486460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Trust-Native ReAct Agent Framework  ·  github.com/rajnishkhatri/AgentsFramework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belongs between a working loop and a trustworthy agent?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36192"/>
            <a:ext cx="310896" cy="310896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4813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agent builder already knows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78308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hand you the ReAct loop in fifty lines — and leave guardrails, evaluation, governance, deployment, and the learning curve as exercises for the reader. The tutorials stop exactly where production begins.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880360"/>
            <a:ext cx="8138160" cy="1600200"/>
          </a:xfrm>
          <a:prstGeom prst="rect">
            <a:avLst/>
          </a:prstGeom>
          <a:solidFill>
            <a:srgbClr val="10172E"/>
          </a:solidFill>
          <a:ln/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310896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305409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question this repo answers: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336499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one open codebase ship the un-demo-able parts — a guardrail stack with a trained model, an eval pipeline calibrated against humans, policy-gated cloud deployment at hobby cost, and the recipes to rebuild it all — in a form you can verify before you trust it?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4882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from a static audit of the repository · Jun 11,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Yes. It's all here — and checkable.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 open-sources the four things agent demos leave out, plus the architecture that holds them together. Six sections follow; every claim carries a file path or a command you can run.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2514600" cy="804672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2642616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2642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43584" y="2514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Four-layer architecture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243584" y="277063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CI gates; illegal imports fail the build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55848" y="2423160"/>
            <a:ext cx="2514600" cy="804672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83864" y="2642616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3483864" y="2642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59352" y="2514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ML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959352" y="277063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DeBERTa-v3, frozen eval gates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71616" y="2423160"/>
            <a:ext cx="2514600" cy="804672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9632" y="2642616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199632" y="2642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0" y="2514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Goal-judge evals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75120" y="277063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theory, κ = 1.0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3337560"/>
            <a:ext cx="2514600" cy="804672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3557016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43584" y="3429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web search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243584" y="368503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self-hosted SearXNG, no API key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55848" y="3337560"/>
            <a:ext cx="2514600" cy="804672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83864" y="3557016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3483864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429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deployment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959352" y="368503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policy-as-code, idles near $0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071616" y="3337560"/>
            <a:ext cx="2514600" cy="804672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99632" y="3557016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3" name="Text 31"/>
          <p:cNvSpPr/>
          <p:nvPr/>
        </p:nvSpPr>
        <p:spPr>
          <a:xfrm>
            <a:off x="6199632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675120" y="3429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recipes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675120" y="368503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every piece yourself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40080" y="443484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108K+ lines  ·  2,500 tests  ·  0 live LLM calls in CI  ·  built solo in 8 weeks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4882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from a static audit of the repository · Jun 11, 2026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layers — crossing them fails the build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8138160" cy="713232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99616"/>
            <a:ext cx="310896" cy="310896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49961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framework draws a layering diagram.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499616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27448" y="14996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stops next week's PR from importing across it. Diagrams rot; nobody notices until refactor day.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212848"/>
            <a:ext cx="4480560" cy="493776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24942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245059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topology &amp; state — thin wrappers only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2798064"/>
            <a:ext cx="4480560" cy="493776"/>
          </a:xfrm>
          <a:prstGeom prst="rect">
            <a:avLst/>
          </a:prstGeom>
          <a:solidFill>
            <a:srgbClr val="2A3A6B"/>
          </a:solidFill>
          <a:ln/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28346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30358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· evaluator · plan builder · goal judge — LangGraph imports forbidden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3383280"/>
            <a:ext cx="4480560" cy="493776"/>
          </a:xfrm>
          <a:prstGeom prst="rect">
            <a:avLst/>
          </a:prstGeom>
          <a:solidFill>
            <a:srgbClr val="3D5089"/>
          </a:solidFill>
          <a:ln/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34198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" y="362102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· guardrails · governance · memory · tools · web search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3968496"/>
            <a:ext cx="4480560" cy="493776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4005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KERNEL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1520" y="42062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types &amp; crypto — stdlib + Pydantic only, no I/O, no logging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457200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flow downward only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49240" y="2212848"/>
            <a:ext cx="3291840" cy="2331720"/>
          </a:xfrm>
          <a:prstGeom prst="rect">
            <a:avLst/>
          </a:prstGeom>
          <a:solidFill>
            <a:srgbClr val="10172E"/>
          </a:solidFill>
          <a:ln/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77840" y="239572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5577840" y="2395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16752" y="23317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is a test,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convention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77840" y="2999232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architecture-gate modules check dependency rules, service isolation, and layer placement on every commit. 2,500 tests overall — a 2:1 test-to-code ratio, with zero live LLM calls in CI.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577840" y="41605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 </a:t>
            </a:r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tests/architecture/ -q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4882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from a static audit of the repository · Jun 11, 2026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GUARDRAIL FINE-TUNING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input rail is a trained model, not a regex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8138160" cy="713232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99616"/>
            <a:ext cx="310896" cy="310896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49961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ships “guardrails” now.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499616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27448" y="14996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are a regex and a prayer — or an LLM judge on every request: slow, costly, and untested for over-blocking.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212848"/>
            <a:ext cx="263347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212848"/>
            <a:ext cx="2633472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235915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PRECHECK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7512" y="261518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deterministic: length caps, injection regex, base64 decode, entropy check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67512" y="32004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 · zero flake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19272" y="2212848"/>
            <a:ext cx="263347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19272" y="2212848"/>
            <a:ext cx="2633472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3483864" y="235915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CLASSIFIER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483864" y="261518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DeBERTa-v3 with PIGuard MOF, exported to INT8 ONNX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83864" y="32004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≥ 0.80 · accept ≤ 0.20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35624" y="2212848"/>
            <a:ext cx="263347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35624" y="2212848"/>
            <a:ext cx="2633472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6300216" y="235915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NARROW JUDGE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300216" y="261518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LLM, scoped to injection only — reached only when 1 &amp; 2 defer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00216" y="32004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expensive path, made rare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749040"/>
            <a:ext cx="8138160" cy="868680"/>
          </a:xfrm>
          <a:prstGeom prst="rect">
            <a:avLst/>
          </a:prstGeom>
          <a:solidFill>
            <a:srgbClr val="10172E"/>
          </a:solidFill>
          <a:ln/>
        </p:spPr>
      </p:sp>
      <p:sp>
        <p:nvSpPr>
          <p:cNvPr id="28" name="Shape 26"/>
          <p:cNvSpPr/>
          <p:nvPr/>
        </p:nvSpPr>
        <p:spPr>
          <a:xfrm>
            <a:off x="685800" y="402336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023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15568" y="3840480"/>
            <a:ext cx="7360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freezes the quality bar: malicious recall ≥ 0.95, false-positive rate &lt; 2% (Llama-Guard-3 ≈ 4%), over-defense measured on a held-out NotInject split — with a contamination guard that makes train/test leakage a hard error.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script included: scripts/train_injection_classifier.py.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4882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from a static audit of the repository · Jun 11, 2026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EVALUATION SCIENCE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goal judge with human-agreement receipts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8138160" cy="713232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99616"/>
            <a:ext cx="310896" cy="310896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49961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narrate success beautifully.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499616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27448" y="14996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“Looks right to me” is not an eval. Judges that trust the agent's own story get gamed by fabricated progress.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212848"/>
            <a:ext cx="193852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3042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κ = 1.0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" y="28163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agreement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072384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blind annotators; gate ≥0.8 (docs/IAA)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624328" y="2212848"/>
            <a:ext cx="193852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61488" y="23042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α = 0.88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761488" y="28163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gold-set pilot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61488" y="3072384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Krippendorff's α on 43 items; 101-row sheet at v0.9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45736" y="2212848"/>
            <a:ext cx="193852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82896" y="23042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882896" y="28163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codes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82896" y="3072384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grounded-theory taxonomy across 5 axes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67144" y="2212848"/>
            <a:ext cx="193852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004304" y="23042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 5%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004304" y="28163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flip rate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04304" y="3072384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fabricated-progress attacks must not flip verdicts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2920" y="3931920"/>
            <a:ext cx="8138160" cy="685800"/>
          </a:xfrm>
          <a:prstGeom prst="rect">
            <a:avLst/>
          </a:prstGeom>
          <a:solidFill>
            <a:srgbClr val="10172E"/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" y="411480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15568" y="4005072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 are grounded in the tool trace, not the agent's narration — and the judge ships default-off, in shadow mode, until precision ≥ 0.90 and flip ≤ 5% gates clear.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7-stage methodology is in .cursor/skills/llm-eval-grounded-theory/ — 62 tests cover the judge alone.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4882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from a static audit of the repository · Jun 11, 2026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FREE WEB SEARCH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search that costs $0, needs no API key, and sanitizes what it reads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8138160" cy="713232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99616"/>
            <a:ext cx="310896" cy="310896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49961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needs web search.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499616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27448" y="14996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APIs meter every call, and raw snippets are an indirect-injection channel straight into your context window.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212848"/>
            <a:ext cx="2651760" cy="2377440"/>
          </a:xfrm>
          <a:prstGeom prst="rect">
            <a:avLst/>
          </a:prstGeom>
          <a:solidFill>
            <a:srgbClr val="10172E"/>
          </a:solidFill>
          <a:ln/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377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731520" y="32461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SearXNG sidecar — localhost or Cloud Run on port 8888, scale-to-zero, aggregating upstream engines. No vendor, no key, no meter.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29000" y="2240280"/>
            <a:ext cx="64008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3611880" y="2212848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Hexagonal port — </a:t>
            </a:r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WebSearchProvider protocol; SearXNG adapter + deterministic stub for CI (services/tools/search/)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29000" y="2807208"/>
            <a:ext cx="64008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2779776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Injection-sanitized — </a:t>
            </a:r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title &amp; snippet runs the retrieval rail before re-entering context; modifications logged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29000" y="3374136"/>
            <a:ext cx="64008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3611880" y="3346704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terminal, not forever — </a:t>
            </a:r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backend → ok=False; no-progress detector (3 repeats, hard stop 5) ends loop-on-dead-tool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29000" y="3941064"/>
            <a:ext cx="64008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3913632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failure-first — </a:t>
            </a:r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cases: HTTP 500, timeout, network error, empty results — written before the success paths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11880" y="452628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 </a:t>
            </a:r>
            <a:pPr indent="0" marL="0">
              <a:buNone/>
            </a:pPr>
            <a:r>
              <a:rPr lang="en-US" sz="100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-f docker-compose.searxng.yml up   ·   WEB_SEARCH_PROVIDER=searxng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882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from a static audit of the repository · Jun 11, 2026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GCP DEPLOYMENT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Policy-gated deploys that idle at pocket change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8138160" cy="713232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99616"/>
            <a:ext cx="310896" cy="310896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49961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“Production-grade” usually means a real cloud bill.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499616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27448" y="14996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agent projects stay on laptops — and the deployment lessons never get learned.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212848"/>
            <a:ext cx="19385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3042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$5–30/mo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0080" y="277977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tier, mostly free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318211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scale-to-zero + Neon free Postgres + Cloudflare Pages; the bill is basically Cloudflare Pro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624328" y="2212848"/>
            <a:ext cx="19385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61488" y="23042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+ 11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2761488" y="277977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 + Gherkin gates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61488" y="318211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plaintext secrets, no allUsers IAM, SSE cache bypass — 108 conftest + 38 pytest checks, mutation-tested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45736" y="2212848"/>
            <a:ext cx="19385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82896" y="23042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gates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882896" y="277977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apply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82896" y="318211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tofu validate → tflint → conftest → pytest; then BDD against the resolved plan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67144" y="2212848"/>
            <a:ext cx="19385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004304" y="23042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→ D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7004304" y="277977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ladder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004304" y="318211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→ HA production; substrate swaps touch only the composition root, zero app code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2920" y="4160520"/>
            <a:ext cx="8138160" cy="502920"/>
          </a:xfrm>
          <a:prstGeom prst="rect">
            <a:avLst/>
          </a:prstGeom>
          <a:solidFill>
            <a:srgbClr val="10172E"/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" y="4261104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4261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97280" y="4206240"/>
            <a:ext cx="7360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deploys (scripts/deploy_gcp.sh) with two human gates, digest-pinned images, CalVer+SHA deploy IDs — and a black-box → Langfuse relay with a dead-letter queue for observability.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2920" y="4882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from a static audit of the repository · Jun 11, 2026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LEARN IT, DON'T JUST CLONE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40+ recipes: rebuild every piece yourself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8138160" cy="713232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99616"/>
            <a:ext cx="310896" cy="310896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49961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repos document what; few teach how.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499616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27448" y="14996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Cloning a black box teaches you nothing — and you can't maintain what you couldn't have built.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212848"/>
            <a:ext cx="15361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" y="230428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1792" y="2779776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deployment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3072384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 → cleanup, with cost notes &amp; rollback per step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185416" y="2212848"/>
            <a:ext cx="15361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304288" y="230428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304288" y="2779776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04288" y="3072384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“five-door” security build, precheck → classifier → judge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867912" y="2212848"/>
            <a:ext cx="15361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986784" y="230428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986784" y="2779776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986784" y="3072384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flight-recorder: black box → Langfuse audit trails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550408" y="2212848"/>
            <a:ext cx="15361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69280" y="230428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669280" y="2779776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judge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69280" y="3072384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grounded-theory failure taxonomy → rubric → gold set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232904" y="2212848"/>
            <a:ext cx="15361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51776" y="230428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6+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351776" y="2779776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hardening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51776" y="3072384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correctness, schema versioning, negative paths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02920" y="4041648"/>
            <a:ext cx="8138160" cy="621792"/>
          </a:xfrm>
          <a:prstGeom prst="rect">
            <a:avLst/>
          </a:prstGeom>
          <a:solidFill>
            <a:srgbClr val="10172E"/>
          </a:solidFill>
          <a:ln/>
        </p:spPr>
      </p:sp>
      <p:sp>
        <p:nvSpPr>
          <p:cNvPr id="33" name="Shape 31"/>
          <p:cNvSpPr/>
          <p:nvPr/>
        </p:nvSpPr>
        <p:spPr>
          <a:xfrm>
            <a:off x="685800" y="4197096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4197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97280" y="4096512"/>
            <a:ext cx="7360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recipe is dual-audience: exact commands for this repo, generic steps for your stack. Bonus: the reasoning prompts that structured this very deck — SCQA, Pyramid Principle, TDD-for-agents — ship in research/, runnable via StructuredReasoning/cli_pyramid.py.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2920" y="4882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from a static audit of the repository · Jun 11, 2026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things to steal in the next ten minutes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435608"/>
            <a:ext cx="402336" cy="402336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35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8992" y="1371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architecture gates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60520" y="1417320"/>
            <a:ext cx="4480560" cy="457200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14173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tests/architecture/ -q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12 boundary tests defend the layers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112264"/>
            <a:ext cx="402336" cy="402336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78992" y="204825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free web search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60520" y="2093976"/>
            <a:ext cx="4480560" cy="457200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209397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-f docker-compose.searxng.yml up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set WEB_SEARCH_PROVIDER=searxng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788920"/>
            <a:ext cx="402336" cy="402336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78992" y="272491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injection classifier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60520" y="2770632"/>
            <a:ext cx="4480560" cy="457200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0" y="277063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scripts/train_injection_classifier.py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DeBERTa-v3 + PIGuard MOF → INT8 ONNX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465576"/>
            <a:ext cx="402336" cy="402336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465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78992" y="34015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one recipe end-to-end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60520" y="3447288"/>
            <a:ext cx="4480560" cy="457200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24" name="Text 22"/>
          <p:cNvSpPr/>
          <p:nvPr/>
        </p:nvSpPr>
        <p:spPr>
          <a:xfrm>
            <a:off x="4297680" y="344728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docs/recipes/guardrails/00_overview.md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five-door security build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4142232"/>
            <a:ext cx="402336" cy="402336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142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78992" y="407822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the reasoning prompts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60520" y="4123944"/>
            <a:ext cx="4480560" cy="457200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29" name="Text 27"/>
          <p:cNvSpPr/>
          <p:nvPr/>
        </p:nvSpPr>
        <p:spPr>
          <a:xfrm>
            <a:off x="4297680" y="4123944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research/pyramid_react_system_prompt.md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MECE issue trees + 8 validation checks, framework-agnostic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2920" y="4882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from a static audit of the repository · Jun 11, 2026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ANSWER, RESTATED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this would've saved you a month,</a:t>
            </a:r>
            <a:endParaRPr lang="en-US" sz="28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worth a star.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514600" cy="603504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03120"/>
            <a:ext cx="54864" cy="6035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1671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24048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CI gates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55848" y="2103120"/>
            <a:ext cx="2514600" cy="603504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55848" y="2103120"/>
            <a:ext cx="54864" cy="6035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21671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ML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20440" y="24048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≥ 0.95 gate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71616" y="2103120"/>
            <a:ext cx="2514600" cy="603504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71616" y="2103120"/>
            <a:ext cx="54864" cy="6035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6236208" y="21671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Goal-judge evals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36208" y="24048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1.0 · α = 0.88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2816352"/>
            <a:ext cx="2514600" cy="603504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2816352"/>
            <a:ext cx="54864" cy="6035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288036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" y="311810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$0, no API key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55848" y="2816352"/>
            <a:ext cx="2514600" cy="603504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55848" y="2816352"/>
            <a:ext cx="54864" cy="6035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3520440" y="288036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deploy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20440" y="311810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$5–30/mo, policy-gated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71616" y="2816352"/>
            <a:ext cx="2514600" cy="603504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71616" y="2816352"/>
            <a:ext cx="54864" cy="6035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6236208" y="288036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36208" y="311810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40+, dual-audience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" y="3749040"/>
            <a:ext cx="7909560" cy="777240"/>
          </a:xfrm>
          <a:prstGeom prst="rect">
            <a:avLst/>
          </a:prstGeom>
          <a:solidFill>
            <a:srgbClr val="10172E"/>
          </a:solidFill>
          <a:ln w="12700">
            <a:solidFill>
              <a:srgbClr val="E8B93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382219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B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fine print:  </a:t>
            </a:r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pre-1.0, single maintainer, LICENSE pending — until it lands, treat it as look-don't-ship and watch the repo for the license drop. ~20 live-LLM tests fail visibly in the local cache, excluded from CI on purpose (the recipes explain why). Every number here comes from a static audit of the repository.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0080" y="47731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github.com/rajnishkhatri/AgentsFramework — star it if it earned one   ·   Rajnish Khatri · rajnish.khatri@gmail.com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bg>
    <p:bgPr>
      <a:solidFill>
        <a:srgbClr val="F7F9FD"/>
      </a:solidFill>
      <a:effectLst/>
    </p:bgPr>
  </p:bg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" cy="51435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5300" y="228600"/>
            <a:ext cx="82296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02C39A"/>
                </a:solidFill>
                <a:latin typeface="Calibri"/>
              </a:rPr>
              <a:t>SECTION 1.5 · THE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5300" y="571500"/>
            <a:ext cx="82296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0172E"/>
                </a:solidFill>
                <a:latin typeface="Georgia"/>
              </a:rPr>
              <a:t>One task, five phases — not one hopeful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1295400"/>
            <a:ext cx="8134350" cy="70485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495425"/>
            <a:ext cx="304800" cy="304800"/>
          </a:xfrm>
          <a:prstGeom prst="ellipse">
            <a:avLst/>
          </a:prstGeom>
          <a:solidFill>
            <a:srgbClr val="10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95425"/>
            <a:ext cx="304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2C39A"/>
                </a:solidFill>
                <a:latin typeface="Calibri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425" y="1428750"/>
            <a:ext cx="30099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0172E"/>
                </a:solidFill>
                <a:latin typeface="Calibri"/>
              </a:rPr>
              <a:t>A bare ReAct loop is one pass: if the model misreads the task, the task fails.</a:t>
            </a:r>
          </a:p>
        </p:txBody>
      </p:sp>
      <p:sp>
        <p:nvSpPr>
          <p:cNvPr id="9" name="Oval 8"/>
          <p:cNvSpPr/>
          <p:nvPr/>
        </p:nvSpPr>
        <p:spPr>
          <a:xfrm>
            <a:off x="4295775" y="1495425"/>
            <a:ext cx="304800" cy="30480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5775" y="1495425"/>
            <a:ext cx="304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0172E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4400" y="1428750"/>
            <a:ext cx="374332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0172E"/>
                </a:solidFill>
                <a:latin typeface="Calibri"/>
              </a:rPr>
              <a:t>Production needs a gate before the spend and a quality check after — thinking and checking, not just doing.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5300" y="2286000"/>
            <a:ext cx="1535430" cy="1905000"/>
          </a:xfrm>
          <a:prstGeom prst="roundRect">
            <a:avLst/>
          </a:prstGeom>
          <a:solidFill>
            <a:srgbClr val="10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5300" y="2286000"/>
            <a:ext cx="1535430" cy="5715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2476500"/>
            <a:ext cx="130683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20">
                <a:solidFill>
                  <a:srgbClr val="02C39A"/>
                </a:solidFill>
                <a:latin typeface="Calibri"/>
              </a:rPr>
              <a:t>1 · INGRESS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2705100"/>
            <a:ext cx="130683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onsolas"/>
              </a:rPr>
              <a:t>guard_input_node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3162300"/>
            <a:ext cx="130683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DDE5F2"/>
                </a:solidFill>
                <a:latin typeface="Calibri"/>
              </a:rPr>
              <a:t>Reject unsafe input at Step 0 — before any token spend.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105150"/>
            <a:ext cx="1524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02C39A"/>
                </a:solidFill>
                <a:latin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5030" y="2286000"/>
            <a:ext cx="1535430" cy="1905000"/>
          </a:xfrm>
          <a:prstGeom prst="roundRect">
            <a:avLst/>
          </a:prstGeom>
          <a:solidFill>
            <a:srgbClr val="10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45030" y="2286000"/>
            <a:ext cx="1535430" cy="5715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59330" y="2476500"/>
            <a:ext cx="130683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20">
                <a:solidFill>
                  <a:srgbClr val="02C39A"/>
                </a:solidFill>
                <a:latin typeface="Calibri"/>
              </a:rPr>
              <a:t>2 · PLANNING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59330" y="2705100"/>
            <a:ext cx="130683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onsolas"/>
              </a:rPr>
              <a:t>route_node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59330" y="3162300"/>
            <a:ext cx="130683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DDE5F2"/>
                </a:solidFill>
                <a:latin typeface="Calibri"/>
              </a:rPr>
              <a:t>Pick depth (L0–L2); build a deterministic plan floor.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61410" y="3105150"/>
            <a:ext cx="1524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02C39A"/>
                </a:solidFill>
                <a:latin typeface="Calibri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94760" y="2286000"/>
            <a:ext cx="1535430" cy="1905000"/>
          </a:xfrm>
          <a:prstGeom prst="roundRect">
            <a:avLst/>
          </a:prstGeom>
          <a:solidFill>
            <a:srgbClr val="10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94760" y="2286000"/>
            <a:ext cx="1535430" cy="5715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09060" y="2476500"/>
            <a:ext cx="130683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20">
                <a:solidFill>
                  <a:srgbClr val="02C39A"/>
                </a:solidFill>
                <a:latin typeface="Calibri"/>
              </a:rPr>
              <a:t>3 · EXECUTION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09060" y="2705100"/>
            <a:ext cx="130683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onsolas"/>
              </a:rPr>
              <a:t>call_llm / supervisor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09060" y="3162300"/>
            <a:ext cx="130683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DDE5F2"/>
                </a:solidFill>
                <a:latin typeface="Calibri"/>
              </a:rPr>
              <a:t>T0 ReAct spine, or T3 fan-out for independent work.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11139" y="3105150"/>
            <a:ext cx="1524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02C39A"/>
                </a:solidFill>
                <a:latin typeface="Calibr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44489" y="2286000"/>
            <a:ext cx="1535430" cy="1905000"/>
          </a:xfrm>
          <a:prstGeom prst="roundRect">
            <a:avLst/>
          </a:prstGeom>
          <a:solidFill>
            <a:srgbClr val="10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4489" y="2286000"/>
            <a:ext cx="1535430" cy="5715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58789" y="2476500"/>
            <a:ext cx="130683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20">
                <a:solidFill>
                  <a:srgbClr val="02C39A"/>
                </a:solidFill>
                <a:latin typeface="Calibri"/>
              </a:rPr>
              <a:t>4 · 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58789" y="2705100"/>
            <a:ext cx="130683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onsolas"/>
              </a:rPr>
              <a:t>evaluate_node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58789" y="3162300"/>
            <a:ext cx="130683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DDE5F2"/>
                </a:solidFill>
                <a:latin typeface="Calibri"/>
              </a:rPr>
              <a:t>GoalJudge scores the result; T2 reflexion if it falls short.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0870" y="3105150"/>
            <a:ext cx="1524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02C39A"/>
                </a:solidFill>
                <a:latin typeface="Calibri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94220" y="2286000"/>
            <a:ext cx="1535430" cy="1905000"/>
          </a:xfrm>
          <a:prstGeom prst="roundRect">
            <a:avLst/>
          </a:prstGeom>
          <a:solidFill>
            <a:srgbClr val="10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94220" y="2286000"/>
            <a:ext cx="1535430" cy="5715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08520" y="2476500"/>
            <a:ext cx="130683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20">
                <a:solidFill>
                  <a:srgbClr val="02C39A"/>
                </a:solidFill>
                <a:latin typeface="Calibri"/>
              </a:rPr>
              <a:t>5 · EXIT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08520" y="2705100"/>
            <a:ext cx="130683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onsolas"/>
              </a:rPr>
              <a:t>reasoning_recap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8520" y="3162300"/>
            <a:ext cx="130683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DDE5F2"/>
                </a:solidFill>
                <a:latin typeface="Calibri"/>
              </a:rPr>
              <a:t>Synthesize a human-readable 'why' for the UI — or escalate.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5300" y="4400550"/>
            <a:ext cx="8134350" cy="36195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4400550"/>
            <a:ext cx="7753350" cy="361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0172E"/>
                </a:solidFill>
                <a:latin typeface="Calibri"/>
              </a:rPr>
              <a:t>All five are real nodes in </a:t>
            </a:r>
            <a:r>
              <a:rPr sz="1050" b="1" i="0">
                <a:solidFill>
                  <a:srgbClr val="10172E"/>
                </a:solidFill>
                <a:latin typeface="Consolas"/>
              </a:rPr>
              <a:t>orchestration/react_loop.py</a:t>
            </a:r>
            <a:r>
              <a:rPr sz="1100" b="1" i="0">
                <a:solidFill>
                  <a:srgbClr val="5A6B8C"/>
                </a:solidFill>
                <a:latin typeface="Calibri"/>
              </a:rPr>
              <a:t>    verify:  </a:t>
            </a:r>
            <a:r>
              <a:rPr sz="950" b="0" i="0">
                <a:solidFill>
                  <a:srgbClr val="02C39A"/>
                </a:solidFill>
                <a:latin typeface="Consolas"/>
              </a:rPr>
              <a:t>grep -n "def .*_node" orchestration/react_loop.py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5300" y="4876800"/>
            <a:ext cx="8229600" cy="2190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8C"/>
                </a:solidFill>
                <a:latin typeface="Calibri"/>
              </a:rPr>
              <a:t>Every figure from a static audit of the repository  ·  Jun 11,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bg>
    <p:bgPr>
      <a:solidFill>
        <a:srgbClr val="F7F9FD"/>
      </a:solidFill>
      <a:effectLst/>
    </p:bgPr>
  </p:bg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" cy="51435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5300" y="228600"/>
            <a:ext cx="82296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02C39A"/>
                </a:solidFill>
                <a:latin typeface="Calibri"/>
              </a:rPr>
              <a:t>SECTION 1.5 · THE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5300" y="571500"/>
            <a:ext cx="82296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0172E"/>
                </a:solidFill>
                <a:latin typeface="Georgia"/>
              </a:rPr>
              <a:t>Two orthogonal axes, one unbreakable floor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1295400"/>
            <a:ext cx="8134350" cy="70485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495425"/>
            <a:ext cx="304800" cy="304800"/>
          </a:xfrm>
          <a:prstGeom prst="ellipse">
            <a:avLst/>
          </a:prstGeom>
          <a:solidFill>
            <a:srgbClr val="10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95425"/>
            <a:ext cx="304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2C39A"/>
                </a:solidFill>
                <a:latin typeface="Calibri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425" y="1428750"/>
            <a:ext cx="30099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0172E"/>
                </a:solidFill>
                <a:latin typeface="Calibri"/>
              </a:rPr>
              <a:t>Most loops use one strategy for every task — over-planning the easy, under-planning the hard.</a:t>
            </a:r>
          </a:p>
        </p:txBody>
      </p:sp>
      <p:sp>
        <p:nvSpPr>
          <p:cNvPr id="9" name="Oval 8"/>
          <p:cNvSpPr/>
          <p:nvPr/>
        </p:nvSpPr>
        <p:spPr>
          <a:xfrm>
            <a:off x="4295775" y="1495425"/>
            <a:ext cx="304800" cy="30480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5775" y="1495425"/>
            <a:ext cx="304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0172E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4400" y="1428750"/>
            <a:ext cx="374332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0172E"/>
                </a:solidFill>
                <a:latin typeface="Calibri"/>
              </a:rPr>
              <a:t>And when an LLM plan is malformed, a loop with no backstop simply stalls.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4050" y="2266950"/>
            <a:ext cx="876300" cy="419100"/>
          </a:xfrm>
          <a:prstGeom prst="rect">
            <a:avLst/>
          </a:prstGeom>
          <a:solidFill>
            <a:srgbClr val="10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4050" y="2266950"/>
            <a:ext cx="8763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L0</a:t>
            </a:r>
          </a:p>
          <a:p>
            <a:pPr algn="ctr"/>
            <a:r>
              <a:rPr sz="850" b="0" i="0">
                <a:solidFill>
                  <a:srgbClr val="8FA3C8"/>
                </a:solidFill>
                <a:latin typeface="Calibri"/>
              </a:rPr>
              <a:t>max 1 step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00350" y="2266950"/>
            <a:ext cx="876300" cy="419100"/>
          </a:xfrm>
          <a:prstGeom prst="rect">
            <a:avLst/>
          </a:prstGeom>
          <a:solidFill>
            <a:srgbClr val="10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00350" y="2266950"/>
            <a:ext cx="8763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L1</a:t>
            </a:r>
          </a:p>
          <a:p>
            <a:pPr algn="ctr"/>
            <a:r>
              <a:rPr sz="850" b="0" i="0">
                <a:solidFill>
                  <a:srgbClr val="8FA3C8"/>
                </a:solidFill>
                <a:latin typeface="Calibri"/>
              </a:rPr>
              <a:t>max 3 steps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6650" y="2266950"/>
            <a:ext cx="876300" cy="419100"/>
          </a:xfrm>
          <a:prstGeom prst="rect">
            <a:avLst/>
          </a:prstGeom>
          <a:solidFill>
            <a:srgbClr val="10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76650" y="2266950"/>
            <a:ext cx="8763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L2</a:t>
            </a:r>
          </a:p>
          <a:p>
            <a:pPr algn="ctr"/>
            <a:r>
              <a:rPr sz="850" b="0" i="0">
                <a:solidFill>
                  <a:srgbClr val="8FA3C8"/>
                </a:solidFill>
                <a:latin typeface="Calibri"/>
              </a:rPr>
              <a:t>max 5 steps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5300" y="2686050"/>
            <a:ext cx="1428750" cy="533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0550" y="2686050"/>
            <a:ext cx="12954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T1  plan artifact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4050" y="2686050"/>
            <a:ext cx="876300" cy="5334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4050" y="2686050"/>
            <a:ext cx="8763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0172E"/>
                </a:solidFill>
                <a:latin typeface="Calibri"/>
              </a:rPr>
              <a:t>Yes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00350" y="2686050"/>
            <a:ext cx="876300" cy="5334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00350" y="2686050"/>
            <a:ext cx="8763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0172E"/>
                </a:solidFill>
                <a:latin typeface="Calibri"/>
              </a:rPr>
              <a:t>Yes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6650" y="2686050"/>
            <a:ext cx="876300" cy="5334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76650" y="2686050"/>
            <a:ext cx="8763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0172E"/>
                </a:solidFill>
                <a:latin typeface="Calibri"/>
              </a:rPr>
              <a:t>Yes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5300" y="3219450"/>
            <a:ext cx="1428750" cy="533400"/>
          </a:xfrm>
          <a:prstGeom prst="rect">
            <a:avLst/>
          </a:prstGeom>
          <a:solidFill>
            <a:srgbClr val="2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0550" y="3219450"/>
            <a:ext cx="12954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T2  reflexion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24050" y="3219450"/>
            <a:ext cx="876300" cy="5334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24050" y="3219450"/>
            <a:ext cx="8763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0172E"/>
                </a:solidFill>
                <a:latin typeface="Calibri"/>
              </a:rPr>
              <a:t>Yes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00350" y="3219450"/>
            <a:ext cx="876300" cy="5334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00350" y="3219450"/>
            <a:ext cx="8763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0172E"/>
                </a:solidFill>
                <a:latin typeface="Calibri"/>
              </a:rPr>
              <a:t>Yes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76650" y="3219450"/>
            <a:ext cx="876300" cy="5334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76650" y="3219450"/>
            <a:ext cx="8763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0172E"/>
                </a:solidFill>
                <a:latin typeface="Calibri"/>
              </a:rPr>
              <a:t>Yes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5300" y="3752850"/>
            <a:ext cx="1428750" cy="533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0550" y="3752850"/>
            <a:ext cx="12954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T3  fan-out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24050" y="3752850"/>
            <a:ext cx="876300" cy="533400"/>
          </a:xfrm>
          <a:prstGeom prst="rect">
            <a:avLst/>
          </a:prstGeom>
          <a:solidFill>
            <a:srgbClr val="F3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24050" y="3752850"/>
            <a:ext cx="8763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5A6B8C"/>
                </a:solidFill>
                <a:latin typeface="Calibri"/>
              </a:rPr>
              <a:t>Never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00350" y="3752850"/>
            <a:ext cx="876300" cy="5334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00350" y="3752850"/>
            <a:ext cx="8763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0172E"/>
                </a:solidFill>
                <a:latin typeface="Calibri"/>
              </a:rPr>
              <a:t>if ≥2 steps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76650" y="3752850"/>
            <a:ext cx="876300" cy="5334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76650" y="3752850"/>
            <a:ext cx="8763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0172E"/>
                </a:solidFill>
                <a:latin typeface="Calibri"/>
              </a:rPr>
              <a:t>if ≥2 steps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5300" y="4362450"/>
            <a:ext cx="40576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A6B8C"/>
                </a:solidFill>
                <a:latin typeface="Calibri"/>
              </a:rPr>
              <a:t>Depth sets the step budget · tiers add mechanisms — independently.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43525" y="2266950"/>
            <a:ext cx="3286125" cy="2247900"/>
          </a:xfrm>
          <a:prstGeom prst="rect">
            <a:avLst/>
          </a:prstGeom>
          <a:solidFill>
            <a:srgbClr val="10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572125" y="2457450"/>
            <a:ext cx="304800" cy="30480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72125" y="2457450"/>
            <a:ext cx="304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0172E"/>
                </a:solidFill>
                <a:latin typeface="Calibri"/>
              </a:rPr>
              <a:t>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91225" y="2390775"/>
            <a:ext cx="240982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The plan floor never depends on the LLM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72125" y="2971800"/>
            <a:ext cx="2828925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DE5F2"/>
                </a:solidFill>
                <a:latin typeface="Calibri"/>
              </a:rPr>
              <a:t>build_plan_artifact lays down an ordered, deterministic plan first. The LLM only enriches it — if the model returns nothing usable, the floor still runs. No brittle stalls.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72125" y="4152900"/>
            <a:ext cx="282892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A3C8"/>
                </a:solidFill>
                <a:latin typeface="Calibri"/>
              </a:rPr>
              <a:t>T3 default: </a:t>
            </a:r>
            <a:r>
              <a:rPr sz="950" b="0" i="0">
                <a:solidFill>
                  <a:srgbClr val="02C39A"/>
                </a:solidFill>
                <a:latin typeface="Consolas"/>
              </a:rPr>
              <a:t>t3_fanout_enabled = False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5300" y="4876800"/>
            <a:ext cx="8229600" cy="2190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8C"/>
                </a:solidFill>
                <a:latin typeface="Calibri"/>
              </a:rPr>
              <a:t>Every figure from a static audit of the repository  ·  Jun 11,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bg>
    <p:bgPr>
      <a:solidFill>
        <a:srgbClr val="F7F9FD"/>
      </a:solidFill>
      <a:effectLst/>
    </p:bgPr>
  </p:bg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" cy="51435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5300" y="228600"/>
            <a:ext cx="82296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02C39A"/>
                </a:solidFill>
                <a:latin typeface="Calibri"/>
              </a:rPr>
              <a:t>SECTION 1.5 · THE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5300" y="571500"/>
            <a:ext cx="82296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0172E"/>
                </a:solidFill>
                <a:latin typeface="Georgia"/>
              </a:rPr>
              <a:t>Parallelism that refuses to corrupt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1295400"/>
            <a:ext cx="8134350" cy="70485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495425"/>
            <a:ext cx="304800" cy="304800"/>
          </a:xfrm>
          <a:prstGeom prst="ellipse">
            <a:avLst/>
          </a:prstGeom>
          <a:solidFill>
            <a:srgbClr val="10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95425"/>
            <a:ext cx="304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2C39A"/>
                </a:solidFill>
                <a:latin typeface="Calibri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425" y="1428750"/>
            <a:ext cx="30099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0172E"/>
                </a:solidFill>
                <a:latin typeface="Calibri"/>
              </a:rPr>
              <a:t>Fan-out is fast — when tasks are truly independent.</a:t>
            </a:r>
          </a:p>
        </p:txBody>
      </p:sp>
      <p:sp>
        <p:nvSpPr>
          <p:cNvPr id="9" name="Oval 8"/>
          <p:cNvSpPr/>
          <p:nvPr/>
        </p:nvSpPr>
        <p:spPr>
          <a:xfrm>
            <a:off x="4295775" y="1495425"/>
            <a:ext cx="304800" cy="30480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5775" y="1495425"/>
            <a:ext cx="304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0172E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4400" y="1428750"/>
            <a:ext cx="374332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0172E"/>
                </a:solidFill>
                <a:latin typeface="Calibri"/>
              </a:rPr>
              <a:t>Run coupled steps in parallel (hotel dates that depend on flights) and you corrupt the result, silently.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300" y="2266950"/>
            <a:ext cx="2857500" cy="400050"/>
          </a:xfrm>
          <a:prstGeom prst="rect">
            <a:avLst/>
          </a:prstGeom>
          <a:solidFill>
            <a:srgbClr val="10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2266950"/>
            <a:ext cx="266700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nsolas"/>
              </a:rPr>
              <a:t>Depth = L0?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2800" y="2266950"/>
            <a:ext cx="26670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5A6B8C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19500" y="2266950"/>
            <a:ext cx="2190750" cy="40005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3800" y="2266950"/>
            <a:ext cx="203835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A6B8C"/>
                </a:solidFill>
                <a:latin typeface="Calibri"/>
              </a:rPr>
              <a:t>DECLINE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5300" y="2724150"/>
            <a:ext cx="2857500" cy="400050"/>
          </a:xfrm>
          <a:prstGeom prst="rect">
            <a:avLst/>
          </a:prstGeom>
          <a:solidFill>
            <a:srgbClr val="10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2724150"/>
            <a:ext cx="266700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nsolas"/>
              </a:rPr>
              <a:t>Sequential dependent?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2800" y="2724150"/>
            <a:ext cx="26670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5A6B8C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19500" y="2724150"/>
            <a:ext cx="2190750" cy="40005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3800" y="2724150"/>
            <a:ext cx="203835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A6B8C"/>
                </a:solidFill>
                <a:latin typeface="Calibri"/>
              </a:rPr>
              <a:t>DECLINE  ·  GAIA guard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5300" y="3181350"/>
            <a:ext cx="2857500" cy="400050"/>
          </a:xfrm>
          <a:prstGeom prst="rect">
            <a:avLst/>
          </a:prstGeom>
          <a:solidFill>
            <a:srgbClr val="10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3181350"/>
            <a:ext cx="266700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nsolas"/>
              </a:rPr>
              <a:t>No plan generator?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2800" y="3181350"/>
            <a:ext cx="26670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5A6B8C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19500" y="3181350"/>
            <a:ext cx="2190750" cy="40005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33800" y="3181350"/>
            <a:ext cx="203835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A6B8C"/>
                </a:solidFill>
                <a:latin typeface="Calibri"/>
              </a:rPr>
              <a:t>DECLINE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5300" y="3638550"/>
            <a:ext cx="2857500" cy="400050"/>
          </a:xfrm>
          <a:prstGeom prst="rect">
            <a:avLst/>
          </a:prstGeom>
          <a:solidFill>
            <a:srgbClr val="10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600" y="3638550"/>
            <a:ext cx="266700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nsolas"/>
              </a:rPr>
              <a:t>validate_independence fails?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52800" y="3638550"/>
            <a:ext cx="26670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5A6B8C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19500" y="3638550"/>
            <a:ext cx="2190750" cy="40005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33800" y="3638550"/>
            <a:ext cx="203835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A6B8C"/>
                </a:solidFill>
                <a:latin typeface="Calibri"/>
              </a:rPr>
              <a:t>DECLINE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5300" y="4095750"/>
            <a:ext cx="2857500" cy="40005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9600" y="4095750"/>
            <a:ext cx="266700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0172E"/>
                </a:solidFill>
                <a:latin typeface="Consolas"/>
              </a:rPr>
              <a:t>All checks pass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52800" y="4095750"/>
            <a:ext cx="26670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5A6B8C"/>
                </a:solidFill>
                <a:latin typeface="Calibri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19500" y="4095750"/>
            <a:ext cx="2190750" cy="400050"/>
          </a:xfrm>
          <a:prstGeom prst="rect">
            <a:avLst/>
          </a:prstGeom>
          <a:solidFill>
            <a:srgbClr val="D7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33800" y="4095750"/>
            <a:ext cx="203835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2C39A"/>
                </a:solidFill>
                <a:latin typeface="Calibri"/>
              </a:rPr>
              <a:t>FAN_OUT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5300" y="4572000"/>
            <a:ext cx="53149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A6B8C"/>
                </a:solidFill>
                <a:latin typeface="Calibri"/>
              </a:rPr>
              <a:t>Decline is the default on any unproven path.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05500" y="2266950"/>
            <a:ext cx="2724150" cy="2228850"/>
          </a:xfrm>
          <a:prstGeom prst="rect">
            <a:avLst/>
          </a:prstGeom>
          <a:solidFill>
            <a:srgbClr val="10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4100" y="2476500"/>
            <a:ext cx="22669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20">
                <a:solidFill>
                  <a:srgbClr val="02C39A"/>
                </a:solidFill>
                <a:latin typeface="Calibri"/>
              </a:rPr>
              <a:t>MEASURED · T3 STRESS CORPUS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34100" y="2743200"/>
            <a:ext cx="22669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1.0</a:t>
            </a:r>
            <a:r>
              <a:rPr sz="1300" b="0" i="0">
                <a:solidFill>
                  <a:srgbClr val="DDE5F2"/>
                </a:solidFill>
                <a:latin typeface="Calibri"/>
              </a:rPr>
              <a:t>  precision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34100" y="3333750"/>
            <a:ext cx="22669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DDE5F2"/>
                </a:solidFill>
                <a:latin typeface="Calibri"/>
              </a:rPr>
              <a:t>fp = 0  ·  10/10 dependent tasks declined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34100" y="3676650"/>
            <a:ext cx="226695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1">
                <a:solidFill>
                  <a:srgbClr val="8FA3C8"/>
                </a:solidFill>
                <a:latin typeface="Calibri"/>
              </a:rPr>
              <a:t>Small N, designed corpus — a discipline that holds on the cases it was tested on, not a population guarantee.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5300" y="4876800"/>
            <a:ext cx="8229600" cy="2190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8C"/>
                </a:solidFill>
                <a:latin typeface="Calibri"/>
              </a:rPr>
              <a:t>Every figure from a static audit of the repository  ·  Jun 11,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05500" y="4476750"/>
            <a:ext cx="27241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A6B8C"/>
                </a:solidFill>
                <a:latin typeface="Consolas"/>
              </a:rPr>
              <a:t>docs/plans/t3_stage_b_case_walkthrough.md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bg>
    <p:bgPr>
      <a:solidFill>
        <a:srgbClr val="F7F9FD"/>
      </a:solidFill>
      <a:effectLst/>
    </p:bgPr>
  </p:bg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" cy="51435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5300" y="228600"/>
            <a:ext cx="82296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02C39A"/>
                </a:solidFill>
                <a:latin typeface="Calibri"/>
              </a:rPr>
              <a:t>SECTION 1.6 · WHAT SHIPPED —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5300" y="571500"/>
            <a:ext cx="82296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0172E"/>
                </a:solidFill>
                <a:latin typeface="Georgia"/>
              </a:rPr>
              <a:t>From a brittle loop to a tiered reasoning ladder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1295400"/>
            <a:ext cx="8134350" cy="70485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495425"/>
            <a:ext cx="304800" cy="304800"/>
          </a:xfrm>
          <a:prstGeom prst="ellipse">
            <a:avLst/>
          </a:prstGeom>
          <a:solidFill>
            <a:srgbClr val="10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95425"/>
            <a:ext cx="304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2C39A"/>
                </a:solidFill>
                <a:latin typeface="Calibri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425" y="1428750"/>
            <a:ext cx="30099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0172E"/>
                </a:solidFill>
                <a:latin typeface="Calibri"/>
              </a:rPr>
              <a:t>A single ReAct loop applies one strategy to every task and stalls on a bad plan.</a:t>
            </a:r>
          </a:p>
        </p:txBody>
      </p:sp>
      <p:sp>
        <p:nvSpPr>
          <p:cNvPr id="9" name="Oval 8"/>
          <p:cNvSpPr/>
          <p:nvPr/>
        </p:nvSpPr>
        <p:spPr>
          <a:xfrm>
            <a:off x="4295775" y="1495425"/>
            <a:ext cx="304800" cy="30480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5775" y="1495425"/>
            <a:ext cx="304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0172E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4400" y="1428750"/>
            <a:ext cx="374332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0172E"/>
                </a:solidFill>
                <a:latin typeface="Calibri"/>
              </a:rPr>
              <a:t>Last week: a four-rung ladder that picks effort by need — every rung shadow-first, default OFF, promoted only on evidence.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300" y="2228850"/>
            <a:ext cx="1947862" cy="1943100"/>
          </a:xfrm>
          <a:prstGeom prst="rect">
            <a:avLst/>
          </a:prstGeom>
          <a:solidFill>
            <a:srgbClr val="10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5300" y="2228850"/>
            <a:ext cx="1947862" cy="3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650" y="2228850"/>
            <a:ext cx="1681162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Georgia"/>
              </a:rPr>
              <a:t>T1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650" y="2628900"/>
            <a:ext cx="1681162" cy="361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Plan with a replan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50" y="3009900"/>
            <a:ext cx="1681162" cy="819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60" b="0" i="0">
                <a:solidFill>
                  <a:srgbClr val="DDE5F2"/>
                </a:solidFill>
                <a:latin typeface="Calibri"/>
              </a:rPr>
              <a:t>PlanGenerator enriches the deterministic floor; rebuilds when a surprising tool result makes the plan stale.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5300" y="3924300"/>
            <a:ext cx="1947862" cy="24765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650" y="3924300"/>
            <a:ext cx="1681162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30" b="0" i="0">
                <a:solidFill>
                  <a:srgbClr val="02C39A"/>
                </a:solidFill>
                <a:latin typeface="Consolas"/>
              </a:rPr>
              <a:t>plan_source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57462" y="2228850"/>
            <a:ext cx="1947862" cy="1943100"/>
          </a:xfrm>
          <a:prstGeom prst="rect">
            <a:avLst/>
          </a:prstGeom>
          <a:solidFill>
            <a:srgbClr val="10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57462" y="2228850"/>
            <a:ext cx="1947862" cy="3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0812" y="2228850"/>
            <a:ext cx="1681162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Georgia"/>
              </a:rPr>
              <a:t>T2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0812" y="2628900"/>
            <a:ext cx="1681162" cy="361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Reflexion re-entry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0812" y="3009900"/>
            <a:ext cx="1681162" cy="819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60" b="0" i="0">
                <a:solidFill>
                  <a:srgbClr val="DDE5F2"/>
                </a:solidFill>
                <a:latin typeface="Calibri"/>
              </a:rPr>
              <a:t>decide_reentry critiques a weak result and loops back — with a D1 attempt ceiling and a D3 prose-thrash backstop.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57462" y="3924300"/>
            <a:ext cx="1947862" cy="24765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90812" y="3924300"/>
            <a:ext cx="1681162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30" b="0" i="0">
                <a:solidFill>
                  <a:srgbClr val="02C39A"/>
                </a:solidFill>
                <a:latin typeface="Consolas"/>
              </a:rPr>
              <a:t>reflexion_enabled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9625" y="2228850"/>
            <a:ext cx="1947862" cy="1943100"/>
          </a:xfrm>
          <a:prstGeom prst="rect">
            <a:avLst/>
          </a:prstGeom>
          <a:solidFill>
            <a:srgbClr val="10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19625" y="2228850"/>
            <a:ext cx="1947862" cy="3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2975" y="2228850"/>
            <a:ext cx="1681162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Georgia"/>
              </a:rPr>
              <a:t>T3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2975" y="2628900"/>
            <a:ext cx="1681162" cy="361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Supervisor fan-out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2975" y="3009900"/>
            <a:ext cx="1681162" cy="819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60" b="0" i="0">
                <a:solidFill>
                  <a:srgbClr val="DDE5F2"/>
                </a:solidFill>
                <a:latin typeface="Calibri"/>
              </a:rPr>
              <a:t>plan_delegations decomposes independent work; validate_independence declines anything coupled (GAIA guard).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19625" y="3924300"/>
            <a:ext cx="1947862" cy="24765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2975" y="3924300"/>
            <a:ext cx="1681162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30" b="0" i="0">
                <a:solidFill>
                  <a:srgbClr val="02C39A"/>
                </a:solidFill>
                <a:latin typeface="Consolas"/>
              </a:rPr>
              <a:t>t3_fanout_enabled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81787" y="2228850"/>
            <a:ext cx="1947862" cy="1943100"/>
          </a:xfrm>
          <a:prstGeom prst="rect">
            <a:avLst/>
          </a:prstGeom>
          <a:solidFill>
            <a:srgbClr val="10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81787" y="2228850"/>
            <a:ext cx="1947862" cy="3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5137" y="2228850"/>
            <a:ext cx="1681162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Georgia"/>
              </a:rPr>
              <a:t>§5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5137" y="2628900"/>
            <a:ext cx="1681162" cy="361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Escalation predicate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5137" y="3009900"/>
            <a:ext cx="1681162" cy="819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60" b="0" i="0">
                <a:solidFill>
                  <a:srgbClr val="DDE5F2"/>
                </a:solidFill>
                <a:latin typeface="Calibri"/>
              </a:rPr>
              <a:t>decide_escalation composes the re-entry/​continue signals into one decision, measured against a precision oracle.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81787" y="3924300"/>
            <a:ext cx="1947862" cy="24765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15137" y="3924300"/>
            <a:ext cx="1681162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30" b="0" i="0">
                <a:solidFill>
                  <a:srgbClr val="02C39A"/>
                </a:solidFill>
                <a:latin typeface="Consolas"/>
              </a:rPr>
              <a:t>escalation oracle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5300" y="4381500"/>
            <a:ext cx="8134350" cy="28575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381500"/>
            <a:ext cx="77533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0172E"/>
                </a:solidFill>
                <a:latin typeface="Calibri"/>
              </a:rPr>
              <a:t>Shadow-first by default → prod graph stays byte-identical until a rung earns promotion.   </a:t>
            </a:r>
            <a:r>
              <a:rPr sz="950" b="1" i="0">
                <a:solidFill>
                  <a:srgbClr val="5A6B8C"/>
                </a:solidFill>
                <a:latin typeface="Consolas"/>
              </a:rPr>
              <a:t>services/base_config.py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5300" y="4876800"/>
            <a:ext cx="8229600" cy="2190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8C"/>
                </a:solidFill>
                <a:latin typeface="Calibri"/>
              </a:rPr>
              <a:t>Every figure from a static audit of the repository  ·  Jun 11,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bg>
    <p:bgPr>
      <a:solidFill>
        <a:srgbClr val="F7F9FD"/>
      </a:solidFill>
      <a:effectLst/>
    </p:bgPr>
  </p:bg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" cy="51435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5300" y="228600"/>
            <a:ext cx="82296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02C39A"/>
                </a:solidFill>
                <a:latin typeface="Calibri"/>
              </a:rPr>
              <a:t>SECTION 1.7 · WHAT SHIPPED —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5300" y="571500"/>
            <a:ext cx="82296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0172E"/>
                </a:solidFill>
                <a:latin typeface="Georgia"/>
              </a:rPr>
              <a:t>Memory: recall, capture, full audit trail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1295400"/>
            <a:ext cx="8134350" cy="70485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495425"/>
            <a:ext cx="304800" cy="304800"/>
          </a:xfrm>
          <a:prstGeom prst="ellipse">
            <a:avLst/>
          </a:prstGeom>
          <a:solidFill>
            <a:srgbClr val="10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95425"/>
            <a:ext cx="304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2C39A"/>
                </a:solidFill>
                <a:latin typeface="Calibri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425" y="1428750"/>
            <a:ext cx="30099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0172E"/>
                </a:solidFill>
                <a:latin typeface="Calibri"/>
              </a:rPr>
              <a:t>An agent that forgets every session can't personalize or improve.</a:t>
            </a:r>
          </a:p>
        </p:txBody>
      </p:sp>
      <p:sp>
        <p:nvSpPr>
          <p:cNvPr id="9" name="Oval 8"/>
          <p:cNvSpPr/>
          <p:nvPr/>
        </p:nvSpPr>
        <p:spPr>
          <a:xfrm>
            <a:off x="4295775" y="1495425"/>
            <a:ext cx="304800" cy="30480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5775" y="1495425"/>
            <a:ext cx="304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0172E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4400" y="1428750"/>
            <a:ext cx="374332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0172E"/>
                </a:solidFill>
                <a:latin typeface="Calibri"/>
              </a:rPr>
              <a:t>This week: durable recall + typed auto-capture — every read, write, and reject leaves a governance carrier.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300" y="2266950"/>
            <a:ext cx="4572000" cy="685800"/>
          </a:xfrm>
          <a:prstGeom prst="rect">
            <a:avLst/>
          </a:prstGeom>
          <a:solidFill>
            <a:srgbClr val="10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5300" y="2266950"/>
            <a:ext cx="57150" cy="6858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71725"/>
            <a:ext cx="1714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20">
                <a:solidFill>
                  <a:srgbClr val="02C39A"/>
                </a:solidFill>
                <a:latin typeface="Calibri"/>
              </a:rPr>
              <a:t>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00300" y="2381250"/>
            <a:ext cx="25146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DDE5F2"/>
                </a:solidFill>
                <a:latin typeface="Consolas"/>
              </a:rPr>
              <a:t>MEMORY_RECALLED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609850"/>
            <a:ext cx="42291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DDE5F2"/>
                </a:solidFill>
                <a:latin typeface="Calibri"/>
              </a:rPr>
              <a:t>route_node pulls relevant memories above a relevance floor (dedup'd) into the prompt.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5300" y="3048000"/>
            <a:ext cx="4572000" cy="685800"/>
          </a:xfrm>
          <a:prstGeom prst="rect">
            <a:avLst/>
          </a:prstGeom>
          <a:solidFill>
            <a:srgbClr val="10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5300" y="3048000"/>
            <a:ext cx="57150" cy="6858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152775"/>
            <a:ext cx="1714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20">
                <a:solidFill>
                  <a:srgbClr val="02C39A"/>
                </a:solidFill>
                <a:latin typeface="Calibri"/>
              </a:rPr>
              <a:t>AUTO-CAPTURE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00300" y="3162300"/>
            <a:ext cx="25146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DDE5F2"/>
                </a:solidFill>
                <a:latin typeface="Consolas"/>
              </a:rPr>
              <a:t>MEMORY_STORED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390900"/>
            <a:ext cx="42291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DDE5F2"/>
                </a:solidFill>
                <a:latin typeface="Calibri"/>
              </a:rPr>
              <a:t>A debounced LLM extractor proposes TypedMemory facts after the run — shadow-only until calibrated.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5300" y="3829050"/>
            <a:ext cx="4572000" cy="685800"/>
          </a:xfrm>
          <a:prstGeom prst="rect">
            <a:avLst/>
          </a:prstGeom>
          <a:solidFill>
            <a:srgbClr val="10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5300" y="3829050"/>
            <a:ext cx="57150" cy="6858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933825"/>
            <a:ext cx="1714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20">
                <a:solidFill>
                  <a:srgbClr val="02C39A"/>
                </a:solidFill>
                <a:latin typeface="Calibri"/>
              </a:rPr>
              <a:t>GOVERN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00300" y="3943350"/>
            <a:ext cx="25146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DDE5F2"/>
                </a:solidFill>
                <a:latin typeface="Consolas"/>
              </a:rPr>
              <a:t>MEMORY_SUPPRESSED · _CONSOLIDATED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171950"/>
            <a:ext cx="42291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DDE5F2"/>
                </a:solidFill>
                <a:latin typeface="Calibri"/>
              </a:rPr>
              <a:t>Per-type budgets consolidate; panel rejects soft-suppress and drop from recall.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43525" y="2266950"/>
            <a:ext cx="3286125" cy="2247900"/>
          </a:xfrm>
          <a:prstGeom prst="rect">
            <a:avLst/>
          </a:prstGeom>
          <a:solidFill>
            <a:srgbClr val="101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572125" y="2457450"/>
            <a:ext cx="304800" cy="30480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2125" y="2457450"/>
            <a:ext cx="304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0172E"/>
                </a:solidFill>
                <a:latin typeface="Calibri"/>
              </a:rPr>
              <a:t>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91225" y="2390775"/>
            <a:ext cx="240982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Durable, swappable, and off by default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2125" y="2971800"/>
            <a:ext cx="2828925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DDE5F2"/>
                </a:solidFill>
                <a:latin typeface="Calibri"/>
              </a:rPr>
              <a:t>Mem0MemoryBackend gives durable storage behind the hexagonal port — swap it without touching the loop. The recalled-memories panel and per-chat soft-suppress ship in the UI.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2125" y="4076700"/>
            <a:ext cx="2828925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20">
                <a:solidFill>
                  <a:srgbClr val="8FA3C8"/>
                </a:solidFill>
                <a:latin typeface="Calibri"/>
              </a:rPr>
              <a:t>OFF BY DEFAULT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2125" y="4248150"/>
            <a:ext cx="2828925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30" b="0" i="0">
                <a:solidFill>
                  <a:srgbClr val="02C39A"/>
                </a:solidFill>
                <a:latin typeface="Consolas"/>
              </a:rPr>
              <a:t>memory_enabled = autocapture_enabled = False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5300" y="4876800"/>
            <a:ext cx="8229600" cy="2190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8C"/>
                </a:solidFill>
                <a:latin typeface="Calibri"/>
              </a:rPr>
              <a:t>Every figure from a static audit of the repository  ·  Jun 11,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Trust-Native ReAct Agent Framework — v3 (CQSA, OSS)</dc:title>
  <dc:subject>PptxGenJS Presentation</dc:subject>
  <dc:creator>Rajnish Khatri</dc:creator>
  <cp:lastModifiedBy>Rajnish Khatri</cp:lastModifiedBy>
  <cp:revision>1</cp:revision>
  <dcterms:created xsi:type="dcterms:W3CDTF">2026-06-11T18:56:06Z</dcterms:created>
  <dcterms:modified xsi:type="dcterms:W3CDTF">2026-06-11T18:56:06Z</dcterms:modified>
</cp:coreProperties>
</file>